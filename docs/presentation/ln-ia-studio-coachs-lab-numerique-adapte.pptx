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 type="wide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fiche-vous-repartirez-avec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programme-webinaire-atelier-ln-ia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1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94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 b="1">
                <a:solidFill>
                  <a:srgbClr val="F2C86B"/>
                </a:solidFill>
              </a:rPr>
              <a:t>Ouverture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1115568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800" b="1">
                <a:solidFill>
                  <a:srgbClr val="FFFFFF"/>
                </a:solidFill>
              </a:rPr>
              <a:t>Laboratoire LN-IA Studio Coachs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731520" y="2999232"/>
            <a:ext cx="740664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900">
                <a:solidFill>
                  <a:srgbClr val="F7F7F4"/>
                </a:solidFill>
              </a:rPr>
              <a:t>Transformer le coaching augmenté par IA en méthode, supports, communauté et productions versionnées.</a:t>
            </a:r>
          </a:p>
        </p:txBody>
      </p:sp>
      <p:sp>
        <p:nvSpPr>
          <p:cNvPr id="8" name="Signal"/>
          <p:cNvSpPr/>
          <p:nvPr/>
        </p:nvSpPr>
        <p:spPr>
          <a:xfrm>
            <a:off x="8869680" y="1115568"/>
            <a:ext cx="2148840" cy="214884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9" name="Signal Text"/>
          <p:cNvSpPr txBox="1"/>
          <p:nvPr/>
        </p:nvSpPr>
        <p:spPr>
          <a:xfrm>
            <a:off x="9189720" y="1572768"/>
            <a:ext cx="1508760" cy="10058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000" b="1">
                <a:solidFill>
                  <a:srgbClr val="101820"/>
                </a:solidFill>
              </a:rPr>
              <a:t>Vision</a:t>
            </a:r>
          </a:p>
          <a:p>
            <a:r>
              <a:rPr lang="fr-FR" sz="2000" b="1">
                <a:solidFill>
                  <a:srgbClr val="101820"/>
                </a:solidFill>
              </a:rPr>
              <a:t>Méthode</a:t>
            </a:r>
          </a:p>
          <a:p>
            <a:r>
              <a:rPr lang="fr-FR" sz="2000" b="1">
                <a:solidFill>
                  <a:srgbClr val="101820"/>
                </a:solidFill>
              </a:rPr>
              <a:t>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2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204B34"/>
                </a:solidFill>
              </a:rPr>
              <a:t>Problématique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896112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900" b="1">
                <a:solidFill>
                  <a:srgbClr val="101820"/>
                </a:solidFill>
              </a:rPr>
              <a:t>Pourquoi maintenant ?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914400" y="1938528"/>
            <a:ext cx="7635240" cy="2697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800">
                <a:solidFill>
                  <a:srgbClr val="1E2428"/>
                </a:solidFill>
              </a:rPr>
              <a:t>- L'IA transforme apprendre, produire et transmettre.</a:t>
            </a:r>
          </a:p>
          <a:p>
            <a:r>
              <a:rPr lang="fr-FR" sz="1800">
                <a:solidFill>
                  <a:srgbClr val="1E2428"/>
                </a:solidFill>
              </a:rPr>
              <a:t>- Les coachs doivent développer de nouveaux comportements.</a:t>
            </a:r>
          </a:p>
          <a:p>
            <a:r>
              <a:rPr lang="fr-FR" sz="1800">
                <a:solidFill>
                  <a:srgbClr val="1E2428"/>
                </a:solidFill>
              </a:rPr>
              <a:t>- Les supports se dispersent sans cadre de capitalisation.</a:t>
            </a:r>
          </a:p>
          <a:p>
            <a:r>
              <a:rPr lang="fr-FR" sz="1800">
                <a:solidFill>
                  <a:srgbClr val="1E2428"/>
                </a:solidFill>
              </a:rPr>
              <a:t>- LN-IA transforme les échanges en livrables réutilisables.</a:t>
            </a:r>
          </a:p>
        </p:txBody>
      </p:sp>
      <p:sp>
        <p:nvSpPr>
          <p:cNvPr id="8" name="Note"/>
          <p:cNvSpPr/>
          <p:nvPr/>
        </p:nvSpPr>
        <p:spPr>
          <a:xfrm>
            <a:off x="9281160" y="1828800"/>
            <a:ext cx="2103120" cy="2148840"/>
          </a:xfrm>
          <a:prstGeom prst="rect">
            <a:avLst/>
          </a:prstGeom>
          <a:solidFill>
            <a:srgbClr val="E6F0E8"/>
          </a:solidFill>
          <a:ln>
            <a:solidFill>
              <a:srgbClr val="A9DFBF"/>
            </a:solidFill>
          </a:ln>
        </p:spPr>
      </p:sp>
      <p:sp>
        <p:nvSpPr>
          <p:cNvPr id="9" name="Note Text"/>
          <p:cNvSpPr txBox="1"/>
          <p:nvPr/>
        </p:nvSpPr>
        <p:spPr>
          <a:xfrm>
            <a:off x="9528048" y="2121408"/>
            <a:ext cx="1591056" cy="1371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101820"/>
                </a:solidFill>
              </a:rPr>
              <a:t>Action participant</a:t>
            </a:r>
          </a:p>
          <a:p>
            <a:r>
              <a:rPr lang="fr-FR" sz="1400" b="1">
                <a:solidFill>
                  <a:srgbClr val="101820"/>
                </a:solidFill>
              </a:rPr>
              <a:t/>
            </a:r>
          </a:p>
          <a:p>
            <a:r>
              <a:rPr lang="fr-FR" sz="1400" b="1">
                <a:solidFill>
                  <a:srgbClr val="101820"/>
                </a:solidFill>
              </a:rPr>
              <a:t>Noter une application directe.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3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204B34"/>
                </a:solidFill>
              </a:rPr>
              <a:t>Risque actuel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896112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900" b="1">
                <a:solidFill>
                  <a:srgbClr val="101820"/>
                </a:solidFill>
              </a:rPr>
              <a:t>Sans cadre, la mémoire atelier se perd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914400" y="1938528"/>
            <a:ext cx="7635240" cy="2697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800">
                <a:solidFill>
                  <a:srgbClr val="1E2428"/>
                </a:solidFill>
              </a:rPr>
              <a:t>- Prompts isolés et difficiles à retrouver.</a:t>
            </a:r>
          </a:p>
          <a:p>
            <a:r>
              <a:rPr lang="fr-FR" sz="1800">
                <a:solidFill>
                  <a:srgbClr val="1E2428"/>
                </a:solidFill>
              </a:rPr>
              <a:t>- Savoir-faire non documenté.</a:t>
            </a:r>
          </a:p>
          <a:p>
            <a:r>
              <a:rPr lang="fr-FR" sz="1800">
                <a:solidFill>
                  <a:srgbClr val="1E2428"/>
                </a:solidFill>
              </a:rPr>
              <a:t>- Présentations et supports non versionnés.</a:t>
            </a:r>
          </a:p>
          <a:p>
            <a:r>
              <a:rPr lang="fr-FR" sz="1800">
                <a:solidFill>
                  <a:srgbClr val="1E2428"/>
                </a:solidFill>
              </a:rPr>
              <a:t>- Difficulté à reprendre un projet après la séance.</a:t>
            </a:r>
          </a:p>
        </p:txBody>
      </p:sp>
      <p:sp>
        <p:nvSpPr>
          <p:cNvPr id="8" name="Note"/>
          <p:cNvSpPr/>
          <p:nvPr/>
        </p:nvSpPr>
        <p:spPr>
          <a:xfrm>
            <a:off x="9281160" y="1828800"/>
            <a:ext cx="2103120" cy="2148840"/>
          </a:xfrm>
          <a:prstGeom prst="rect">
            <a:avLst/>
          </a:prstGeom>
          <a:solidFill>
            <a:srgbClr val="E6F0E8"/>
          </a:solidFill>
          <a:ln>
            <a:solidFill>
              <a:srgbClr val="A9DFBF"/>
            </a:solidFill>
          </a:ln>
        </p:spPr>
      </p:sp>
      <p:sp>
        <p:nvSpPr>
          <p:cNvPr id="9" name="Note Text"/>
          <p:cNvSpPr txBox="1"/>
          <p:nvPr/>
        </p:nvSpPr>
        <p:spPr>
          <a:xfrm>
            <a:off x="9528048" y="2121408"/>
            <a:ext cx="1591056" cy="1371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101820"/>
                </a:solidFill>
              </a:rPr>
              <a:t>Action participant</a:t>
            </a:r>
          </a:p>
          <a:p>
            <a:r>
              <a:rPr lang="fr-FR" sz="1400" b="1">
                <a:solidFill>
                  <a:srgbClr val="101820"/>
                </a:solidFill>
              </a:rPr>
              <a:t/>
            </a:r>
          </a:p>
          <a:p>
            <a:r>
              <a:rPr lang="fr-FR" sz="1400" b="1">
                <a:solidFill>
                  <a:srgbClr val="101820"/>
                </a:solidFill>
              </a:rPr>
              <a:t>Noter une application directe.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4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204B34"/>
                </a:solidFill>
              </a:rPr>
              <a:t>Réponse LN-IA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896112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900" b="1">
                <a:solidFill>
                  <a:srgbClr val="101820"/>
                </a:solidFill>
              </a:rPr>
              <a:t>Créer un laboratoire d'orchestration IA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914400" y="1938528"/>
            <a:ext cx="7635240" cy="2697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800">
                <a:solidFill>
                  <a:srgbClr val="1E2428"/>
                </a:solidFill>
              </a:rPr>
              <a:t>- Produire : pages, guides, slides, prompts.</a:t>
            </a:r>
          </a:p>
          <a:p>
            <a:r>
              <a:rPr lang="fr-FR" sz="1800">
                <a:solidFill>
                  <a:srgbClr val="1E2428"/>
                </a:solidFill>
              </a:rPr>
              <a:t>- Documenter : méthodes, décisions, critères.</a:t>
            </a:r>
          </a:p>
          <a:p>
            <a:r>
              <a:rPr lang="fr-FR" sz="1800">
                <a:solidFill>
                  <a:srgbClr val="1E2428"/>
                </a:solidFill>
              </a:rPr>
              <a:t>- Publier : GitHub Pages, releases, supports.</a:t>
            </a:r>
          </a:p>
          <a:p>
            <a:r>
              <a:rPr lang="fr-FR" sz="1800">
                <a:solidFill>
                  <a:srgbClr val="1E2428"/>
                </a:solidFill>
              </a:rPr>
              <a:t>- Archiver : mémoire commune et prochaines actions.</a:t>
            </a:r>
          </a:p>
        </p:txBody>
      </p:sp>
      <p:sp>
        <p:nvSpPr>
          <p:cNvPr id="8" name="Note"/>
          <p:cNvSpPr/>
          <p:nvPr/>
        </p:nvSpPr>
        <p:spPr>
          <a:xfrm>
            <a:off x="9281160" y="1828800"/>
            <a:ext cx="2103120" cy="2148840"/>
          </a:xfrm>
          <a:prstGeom prst="rect">
            <a:avLst/>
          </a:prstGeom>
          <a:solidFill>
            <a:srgbClr val="E6F0E8"/>
          </a:solidFill>
          <a:ln>
            <a:solidFill>
              <a:srgbClr val="A9DFBF"/>
            </a:solidFill>
          </a:ln>
        </p:spPr>
      </p:sp>
      <p:sp>
        <p:nvSpPr>
          <p:cNvPr id="9" name="Note Text"/>
          <p:cNvSpPr txBox="1"/>
          <p:nvPr/>
        </p:nvSpPr>
        <p:spPr>
          <a:xfrm>
            <a:off x="9528048" y="2121408"/>
            <a:ext cx="1591056" cy="1371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101820"/>
                </a:solidFill>
              </a:rPr>
              <a:t>Action participant</a:t>
            </a:r>
          </a:p>
          <a:p>
            <a:r>
              <a:rPr lang="fr-FR" sz="1400" b="1">
                <a:solidFill>
                  <a:srgbClr val="101820"/>
                </a:solidFill>
              </a:rPr>
              <a:t/>
            </a:r>
          </a:p>
          <a:p>
            <a:r>
              <a:rPr lang="fr-FR" sz="1400" b="1">
                <a:solidFill>
                  <a:srgbClr val="101820"/>
                </a:solidFill>
              </a:rPr>
              <a:t>Noter une application directe.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5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94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 b="1">
                <a:solidFill>
                  <a:srgbClr val="F2C86B"/>
                </a:solidFill>
              </a:rPr>
              <a:t>Axe 1 - Pourquoi ?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1115568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800" b="1">
                <a:solidFill>
                  <a:srgbClr val="FFFFFF"/>
                </a:solidFill>
              </a:rPr>
              <a:t>La compétence IA devient une compétence de base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731520" y="2999232"/>
            <a:ext cx="740664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900">
                <a:solidFill>
                  <a:srgbClr val="F7F7F4"/>
                </a:solidFill>
              </a:rPr>
              <a:t>Comprendre, pratiquer et transmettre devient indispensable pour coachs, formateurs et managers.</a:t>
            </a:r>
          </a:p>
        </p:txBody>
      </p:sp>
      <p:sp>
        <p:nvSpPr>
          <p:cNvPr id="8" name="Signal"/>
          <p:cNvSpPr/>
          <p:nvPr/>
        </p:nvSpPr>
        <p:spPr>
          <a:xfrm>
            <a:off x="8869680" y="1115568"/>
            <a:ext cx="2148840" cy="214884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9" name="Signal Text"/>
          <p:cNvSpPr txBox="1"/>
          <p:nvPr/>
        </p:nvSpPr>
        <p:spPr>
          <a:xfrm>
            <a:off x="9189720" y="1572768"/>
            <a:ext cx="1508760" cy="10058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000" b="1">
                <a:solidFill>
                  <a:srgbClr val="101820"/>
                </a:solidFill>
              </a:rPr>
              <a:t>Vision</a:t>
            </a:r>
          </a:p>
          <a:p>
            <a:r>
              <a:rPr lang="fr-FR" sz="2000" b="1">
                <a:solidFill>
                  <a:srgbClr val="101820"/>
                </a:solidFill>
              </a:rPr>
              <a:t>Méthode</a:t>
            </a:r>
          </a:p>
          <a:p>
            <a:r>
              <a:rPr lang="fr-FR" sz="2000" b="1">
                <a:solidFill>
                  <a:srgbClr val="101820"/>
                </a:solidFill>
              </a:rPr>
              <a:t>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6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F2C86B"/>
                </a:solidFill>
              </a:rPr>
              <a:t>Changement de paradigme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896112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900" b="1">
                <a:solidFill>
                  <a:srgbClr val="FFFFFF"/>
                </a:solidFill>
              </a:rPr>
              <a:t>Le coaching devient un système de production</a:t>
            </a:r>
          </a:p>
        </p:txBody>
      </p:sp>
      <p:sp>
        <p:nvSpPr>
          <p:cNvPr id="11" name="Step 1"/>
          <p:cNvSpPr/>
          <p:nvPr/>
        </p:nvSpPr>
        <p:spPr>
          <a:xfrm>
            <a:off x="777240" y="2148840"/>
            <a:ext cx="1965960" cy="109728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21" name="StepText 1"/>
          <p:cNvSpPr txBox="1"/>
          <p:nvPr/>
        </p:nvSpPr>
        <p:spPr>
          <a:xfrm>
            <a:off x="978408" y="2331720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 b="1">
                <a:solidFill>
                  <a:srgbClr val="101820"/>
                </a:solidFill>
              </a:rPr>
              <a:t>1</a:t>
            </a:r>
          </a:p>
          <a:p>
            <a:r>
              <a:rPr lang="fr-FR" sz="1600" b="1">
                <a:solidFill>
                  <a:srgbClr val="101820"/>
                </a:solidFill>
              </a:rPr>
              <a:t>Intention</a:t>
            </a:r>
          </a:p>
        </p:txBody>
      </p:sp>
      <p:sp>
        <p:nvSpPr>
          <p:cNvPr id="12" name="Step 2"/>
          <p:cNvSpPr/>
          <p:nvPr/>
        </p:nvSpPr>
        <p:spPr>
          <a:xfrm>
            <a:off x="2926080" y="2148840"/>
            <a:ext cx="1965960" cy="109728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22" name="StepText 2"/>
          <p:cNvSpPr txBox="1"/>
          <p:nvPr/>
        </p:nvSpPr>
        <p:spPr>
          <a:xfrm>
            <a:off x="3127248" y="2331720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 b="1">
                <a:solidFill>
                  <a:srgbClr val="101820"/>
                </a:solidFill>
              </a:rPr>
              <a:t>2</a:t>
            </a:r>
          </a:p>
          <a:p>
            <a:r>
              <a:rPr lang="fr-FR" sz="1600" b="1">
                <a:solidFill>
                  <a:srgbClr val="101820"/>
                </a:solidFill>
              </a:rPr>
              <a:t>Dialogue</a:t>
            </a:r>
          </a:p>
        </p:txBody>
      </p:sp>
      <p:sp>
        <p:nvSpPr>
          <p:cNvPr id="13" name="Step 3"/>
          <p:cNvSpPr/>
          <p:nvPr/>
        </p:nvSpPr>
        <p:spPr>
          <a:xfrm>
            <a:off x="5074920" y="2148840"/>
            <a:ext cx="1965960" cy="109728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23" name="StepText 3"/>
          <p:cNvSpPr txBox="1"/>
          <p:nvPr/>
        </p:nvSpPr>
        <p:spPr>
          <a:xfrm>
            <a:off x="5276088" y="2331720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 b="1">
                <a:solidFill>
                  <a:srgbClr val="101820"/>
                </a:solidFill>
              </a:rPr>
              <a:t>3</a:t>
            </a:r>
          </a:p>
          <a:p>
            <a:r>
              <a:rPr lang="fr-FR" sz="1600" b="1">
                <a:solidFill>
                  <a:srgbClr val="101820"/>
                </a:solidFill>
              </a:rPr>
              <a:t>Production</a:t>
            </a:r>
          </a:p>
        </p:txBody>
      </p:sp>
      <p:sp>
        <p:nvSpPr>
          <p:cNvPr id="14" name="Step 4"/>
          <p:cNvSpPr/>
          <p:nvPr/>
        </p:nvSpPr>
        <p:spPr>
          <a:xfrm>
            <a:off x="7223760" y="2148840"/>
            <a:ext cx="1965960" cy="109728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24" name="StepText 4"/>
          <p:cNvSpPr txBox="1"/>
          <p:nvPr/>
        </p:nvSpPr>
        <p:spPr>
          <a:xfrm>
            <a:off x="7424928" y="2331720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 b="1">
                <a:solidFill>
                  <a:srgbClr val="101820"/>
                </a:solidFill>
              </a:rPr>
              <a:t>4</a:t>
            </a:r>
          </a:p>
          <a:p>
            <a:r>
              <a:rPr lang="fr-FR" sz="1600" b="1">
                <a:solidFill>
                  <a:srgbClr val="101820"/>
                </a:solidFill>
              </a:rPr>
              <a:t>Vérification</a:t>
            </a:r>
          </a:p>
        </p:txBody>
      </p:sp>
      <p:sp>
        <p:nvSpPr>
          <p:cNvPr id="15" name="Step 5"/>
          <p:cNvSpPr/>
          <p:nvPr/>
        </p:nvSpPr>
        <p:spPr>
          <a:xfrm>
            <a:off x="9372600" y="2148840"/>
            <a:ext cx="1965960" cy="109728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25" name="StepText 5"/>
          <p:cNvSpPr txBox="1"/>
          <p:nvPr/>
        </p:nvSpPr>
        <p:spPr>
          <a:xfrm>
            <a:off x="9573768" y="2331720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 b="1">
                <a:solidFill>
                  <a:srgbClr val="101820"/>
                </a:solidFill>
              </a:rPr>
              <a:t>5</a:t>
            </a:r>
          </a:p>
          <a:p>
            <a:r>
              <a:rPr lang="fr-FR" sz="1600" b="1">
                <a:solidFill>
                  <a:srgbClr val="101820"/>
                </a:solidFill>
              </a:rPr>
              <a:t>Transmission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7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204B34"/>
                </a:solidFill>
              </a:rPr>
              <a:t>Enjeu collectif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896112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900" b="1">
                <a:solidFill>
                  <a:srgbClr val="101820"/>
                </a:solidFill>
              </a:rPr>
              <a:t>Une communauté qui apprend en produisant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914400" y="1938528"/>
            <a:ext cx="7635240" cy="2697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800">
                <a:solidFill>
                  <a:srgbClr val="1E2428"/>
                </a:solidFill>
              </a:rPr>
              <a:t>- Culture IA commune.</a:t>
            </a:r>
          </a:p>
          <a:p>
            <a:r>
              <a:rPr lang="fr-FR" sz="1800">
                <a:solidFill>
                  <a:srgbClr val="1E2428"/>
                </a:solidFill>
              </a:rPr>
              <a:t>- Talents et rôles visibles.</a:t>
            </a:r>
          </a:p>
          <a:p>
            <a:r>
              <a:rPr lang="fr-FR" sz="1800">
                <a:solidFill>
                  <a:srgbClr val="1E2428"/>
                </a:solidFill>
              </a:rPr>
              <a:t>- Patrimoine utile : fiches, slides, prompts.</a:t>
            </a:r>
          </a:p>
          <a:p>
            <a:r>
              <a:rPr lang="fr-FR" sz="1800">
                <a:solidFill>
                  <a:srgbClr val="1E2428"/>
                </a:solidFill>
              </a:rPr>
              <a:t>- Progression mesurable par livrables.</a:t>
            </a:r>
          </a:p>
        </p:txBody>
      </p:sp>
      <p:sp>
        <p:nvSpPr>
          <p:cNvPr id="8" name="Note"/>
          <p:cNvSpPr/>
          <p:nvPr/>
        </p:nvSpPr>
        <p:spPr>
          <a:xfrm>
            <a:off x="9281160" y="1828800"/>
            <a:ext cx="2103120" cy="2148840"/>
          </a:xfrm>
          <a:prstGeom prst="rect">
            <a:avLst/>
          </a:prstGeom>
          <a:solidFill>
            <a:srgbClr val="E6F0E8"/>
          </a:solidFill>
          <a:ln>
            <a:solidFill>
              <a:srgbClr val="A9DFBF"/>
            </a:solidFill>
          </a:ln>
        </p:spPr>
      </p:sp>
      <p:sp>
        <p:nvSpPr>
          <p:cNvPr id="9" name="Note Text"/>
          <p:cNvSpPr txBox="1"/>
          <p:nvPr/>
        </p:nvSpPr>
        <p:spPr>
          <a:xfrm>
            <a:off x="9528048" y="2121408"/>
            <a:ext cx="1591056" cy="1371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101820"/>
                </a:solidFill>
              </a:rPr>
              <a:t>Action participant</a:t>
            </a:r>
          </a:p>
          <a:p>
            <a:r>
              <a:rPr lang="fr-FR" sz="1400" b="1">
                <a:solidFill>
                  <a:srgbClr val="101820"/>
                </a:solidFill>
              </a:rPr>
              <a:t/>
            </a:r>
          </a:p>
          <a:p>
            <a:r>
              <a:rPr lang="fr-FR" sz="1400" b="1">
                <a:solidFill>
                  <a:srgbClr val="101820"/>
                </a:solidFill>
              </a:rPr>
              <a:t>Noter une application directe.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8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F2C86B"/>
                </a:solidFill>
              </a:rPr>
              <a:t>Valeur attendue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896112"/>
            <a:ext cx="649224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900" b="1">
                <a:solidFill>
                  <a:srgbClr val="FFFFFF"/>
                </a:solidFill>
              </a:rPr>
              <a:t>Ce que LN-IA doit produire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731520" y="2148840"/>
            <a:ext cx="4937760" cy="1737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800">
                <a:solidFill>
                  <a:srgbClr val="F7F7F4"/>
                </a:solidFill>
              </a:rPr>
              <a:t>Méthode commune, kit atelier, présentations professionnelles, landing page optimisée et releases GitHub documentées.</a:t>
            </a:r>
          </a:p>
        </p:txBody>
      </p:sp>
      <p:pic>
        <p:nvPicPr>
          <p:cNvPr id="8" name="fiche-vous-repartirez-avec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360920" y="1234440"/>
            <a:ext cx="306324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9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94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 b="1">
                <a:solidFill>
                  <a:srgbClr val="F2C86B"/>
                </a:solidFill>
              </a:rPr>
              <a:t>Axe 2 - C'est quoi ?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1115568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800" b="1">
                <a:solidFill>
                  <a:srgbClr val="FFFFFF"/>
                </a:solidFill>
              </a:rPr>
              <a:t>Un atelier augmenté par IA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731520" y="2999232"/>
            <a:ext cx="740664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900">
                <a:solidFill>
                  <a:srgbClr val="F7F7F4"/>
                </a:solidFill>
              </a:rPr>
              <a:t>Un environnement organisé pour apprendre, produire, documenter, publier et transmettre.</a:t>
            </a:r>
          </a:p>
        </p:txBody>
      </p:sp>
      <p:sp>
        <p:nvSpPr>
          <p:cNvPr id="8" name="Signal"/>
          <p:cNvSpPr/>
          <p:nvPr/>
        </p:nvSpPr>
        <p:spPr>
          <a:xfrm>
            <a:off x="8869680" y="1115568"/>
            <a:ext cx="2148840" cy="214884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9" name="Signal Text"/>
          <p:cNvSpPr txBox="1"/>
          <p:nvPr/>
        </p:nvSpPr>
        <p:spPr>
          <a:xfrm>
            <a:off x="9189720" y="1572768"/>
            <a:ext cx="1508760" cy="10058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000" b="1">
                <a:solidFill>
                  <a:srgbClr val="101820"/>
                </a:solidFill>
              </a:rPr>
              <a:t>Vision</a:t>
            </a:r>
          </a:p>
          <a:p>
            <a:r>
              <a:rPr lang="fr-FR" sz="2000" b="1">
                <a:solidFill>
                  <a:srgbClr val="101820"/>
                </a:solidFill>
              </a:rPr>
              <a:t>Méthode</a:t>
            </a:r>
          </a:p>
          <a:p>
            <a:r>
              <a:rPr lang="fr-FR" sz="2000" b="1">
                <a:solidFill>
                  <a:srgbClr val="101820"/>
                </a:solidFill>
              </a:rPr>
              <a:t>Production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10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204B34"/>
                </a:solidFill>
              </a:rPr>
              <a:t>Composants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896112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900" b="1">
                <a:solidFill>
                  <a:srgbClr val="101820"/>
                </a:solidFill>
              </a:rPr>
              <a:t>Outils, méthodes, contenus, personnes</a:t>
            </a:r>
          </a:p>
        </p:txBody>
      </p:sp>
      <p:sp>
        <p:nvSpPr>
          <p:cNvPr id="10" name="Card 0"/>
          <p:cNvSpPr/>
          <p:nvPr/>
        </p:nvSpPr>
        <p:spPr>
          <a:xfrm>
            <a:off x="822960" y="1965960"/>
            <a:ext cx="202996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8C1B5"/>
            </a:solidFill>
          </a:ln>
        </p:spPr>
      </p:sp>
      <p:sp>
        <p:nvSpPr>
          <p:cNvPr id="30" name="CardAccent 0"/>
          <p:cNvSpPr/>
          <p:nvPr/>
        </p:nvSpPr>
        <p:spPr>
          <a:xfrm>
            <a:off x="822960" y="1965960"/>
            <a:ext cx="109728" cy="105156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50" name="CardText 0"/>
          <p:cNvSpPr txBox="1"/>
          <p:nvPr/>
        </p:nvSpPr>
        <p:spPr>
          <a:xfrm>
            <a:off x="1078992" y="2130552"/>
            <a:ext cx="1536192" cy="7132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1E2428"/>
                </a:solidFill>
              </a:rPr>
              <a:t>GitHub</a:t>
            </a:r>
          </a:p>
          <a:p>
            <a:r>
              <a:rPr lang="fr-FR" sz="1200" b="1">
                <a:solidFill>
                  <a:srgbClr val="1E2428"/>
                </a:solidFill>
              </a:rPr>
              <a:t>mémoire</a:t>
            </a:r>
          </a:p>
        </p:txBody>
      </p:sp>
      <p:sp>
        <p:nvSpPr>
          <p:cNvPr id="11" name="Card 1"/>
          <p:cNvSpPr/>
          <p:nvPr/>
        </p:nvSpPr>
        <p:spPr>
          <a:xfrm>
            <a:off x="3246120" y="1965960"/>
            <a:ext cx="202996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8C1B5"/>
            </a:solidFill>
          </a:ln>
        </p:spPr>
      </p:sp>
      <p:sp>
        <p:nvSpPr>
          <p:cNvPr id="31" name="CardAccent 1"/>
          <p:cNvSpPr/>
          <p:nvPr/>
        </p:nvSpPr>
        <p:spPr>
          <a:xfrm>
            <a:off x="3246120" y="1965960"/>
            <a:ext cx="109728" cy="105156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51" name="CardText 1"/>
          <p:cNvSpPr txBox="1"/>
          <p:nvPr/>
        </p:nvSpPr>
        <p:spPr>
          <a:xfrm>
            <a:off x="3502152" y="2130552"/>
            <a:ext cx="1536192" cy="7132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1E2428"/>
                </a:solidFill>
              </a:rPr>
              <a:t>VS Code</a:t>
            </a:r>
          </a:p>
          <a:p>
            <a:r>
              <a:rPr lang="fr-FR" sz="1200" b="1">
                <a:solidFill>
                  <a:srgbClr val="1E2428"/>
                </a:solidFill>
              </a:rPr>
              <a:t>production</a:t>
            </a:r>
          </a:p>
        </p:txBody>
      </p:sp>
      <p:sp>
        <p:nvSpPr>
          <p:cNvPr id="12" name="Card 2"/>
          <p:cNvSpPr/>
          <p:nvPr/>
        </p:nvSpPr>
        <p:spPr>
          <a:xfrm>
            <a:off x="5669280" y="1965960"/>
            <a:ext cx="202996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8C1B5"/>
            </a:solidFill>
          </a:ln>
        </p:spPr>
      </p:sp>
      <p:sp>
        <p:nvSpPr>
          <p:cNvPr id="32" name="CardAccent 2"/>
          <p:cNvSpPr/>
          <p:nvPr/>
        </p:nvSpPr>
        <p:spPr>
          <a:xfrm>
            <a:off x="5669280" y="1965960"/>
            <a:ext cx="109728" cy="105156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52" name="CardText 2"/>
          <p:cNvSpPr txBox="1"/>
          <p:nvPr/>
        </p:nvSpPr>
        <p:spPr>
          <a:xfrm>
            <a:off x="5925312" y="2130552"/>
            <a:ext cx="1536192" cy="7132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1E2428"/>
                </a:solidFill>
              </a:rPr>
              <a:t>IA</a:t>
            </a:r>
          </a:p>
          <a:p>
            <a:r>
              <a:rPr lang="fr-FR" sz="1200" b="1">
                <a:solidFill>
                  <a:srgbClr val="1E2428"/>
                </a:solidFill>
              </a:rPr>
              <a:t>assistance</a:t>
            </a:r>
          </a:p>
        </p:txBody>
      </p:sp>
      <p:sp>
        <p:nvSpPr>
          <p:cNvPr id="13" name="Card 3"/>
          <p:cNvSpPr/>
          <p:nvPr/>
        </p:nvSpPr>
        <p:spPr>
          <a:xfrm>
            <a:off x="8092440" y="1965960"/>
            <a:ext cx="202996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8C1B5"/>
            </a:solidFill>
          </a:ln>
        </p:spPr>
      </p:sp>
      <p:sp>
        <p:nvSpPr>
          <p:cNvPr id="33" name="CardAccent 3"/>
          <p:cNvSpPr/>
          <p:nvPr/>
        </p:nvSpPr>
        <p:spPr>
          <a:xfrm>
            <a:off x="8092440" y="1965960"/>
            <a:ext cx="109728" cy="105156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53" name="CardText 3"/>
          <p:cNvSpPr txBox="1"/>
          <p:nvPr/>
        </p:nvSpPr>
        <p:spPr>
          <a:xfrm>
            <a:off x="8348471" y="2130552"/>
            <a:ext cx="1536192" cy="7132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1E2428"/>
                </a:solidFill>
              </a:rPr>
              <a:t>Zoom</a:t>
            </a:r>
          </a:p>
          <a:p>
            <a:r>
              <a:rPr lang="fr-FR" sz="1200" b="1">
                <a:solidFill>
                  <a:srgbClr val="1E2428"/>
                </a:solidFill>
              </a:rPr>
              <a:t>atelier</a:t>
            </a:r>
          </a:p>
        </p:txBody>
      </p:sp>
      <p:sp>
        <p:nvSpPr>
          <p:cNvPr id="14" name="Card 4"/>
          <p:cNvSpPr/>
          <p:nvPr/>
        </p:nvSpPr>
        <p:spPr>
          <a:xfrm>
            <a:off x="2011680" y="3657600"/>
            <a:ext cx="202996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8C1B5"/>
            </a:solidFill>
          </a:ln>
        </p:spPr>
      </p:sp>
      <p:sp>
        <p:nvSpPr>
          <p:cNvPr id="34" name="CardAccent 4"/>
          <p:cNvSpPr/>
          <p:nvPr/>
        </p:nvSpPr>
        <p:spPr>
          <a:xfrm>
            <a:off x="2011680" y="3657600"/>
            <a:ext cx="109728" cy="105156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54" name="CardText 4"/>
          <p:cNvSpPr txBox="1"/>
          <p:nvPr/>
        </p:nvSpPr>
        <p:spPr>
          <a:xfrm>
            <a:off x="2267712" y="3822191"/>
            <a:ext cx="1536192" cy="7132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>
                <a:solidFill>
                  <a:srgbClr val="1E2428"/>
                </a:solidFill>
              </a:rPr>
              <a:t>Docs</a:t>
            </a:r>
          </a:p>
          <a:p>
            <a:r>
              <a:rPr lang="fr-FR" sz="1200">
                <a:solidFill>
                  <a:srgbClr val="1E2428"/>
                </a:solidFill>
              </a:rPr>
              <a:t>guides</a:t>
            </a:r>
          </a:p>
        </p:txBody>
      </p:sp>
      <p:sp>
        <p:nvSpPr>
          <p:cNvPr id="15" name="Card 5"/>
          <p:cNvSpPr/>
          <p:nvPr/>
        </p:nvSpPr>
        <p:spPr>
          <a:xfrm>
            <a:off x="4434840" y="3657600"/>
            <a:ext cx="202996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8C1B5"/>
            </a:solidFill>
          </a:ln>
        </p:spPr>
      </p:sp>
      <p:sp>
        <p:nvSpPr>
          <p:cNvPr id="35" name="CardAccent 5"/>
          <p:cNvSpPr/>
          <p:nvPr/>
        </p:nvSpPr>
        <p:spPr>
          <a:xfrm>
            <a:off x="4434840" y="3657600"/>
            <a:ext cx="109728" cy="105156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55" name="CardText 5"/>
          <p:cNvSpPr txBox="1"/>
          <p:nvPr/>
        </p:nvSpPr>
        <p:spPr>
          <a:xfrm>
            <a:off x="4690872" y="3822191"/>
            <a:ext cx="1536192" cy="7132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>
                <a:solidFill>
                  <a:srgbClr val="1E2428"/>
                </a:solidFill>
              </a:rPr>
              <a:t>PPTX</a:t>
            </a:r>
          </a:p>
          <a:p>
            <a:r>
              <a:rPr lang="fr-FR" sz="1200">
                <a:solidFill>
                  <a:srgbClr val="1E2428"/>
                </a:solidFill>
              </a:rPr>
              <a:t>transmission</a:t>
            </a:r>
          </a:p>
        </p:txBody>
      </p:sp>
      <p:sp>
        <p:nvSpPr>
          <p:cNvPr id="16" name="Card 6"/>
          <p:cNvSpPr/>
          <p:nvPr/>
        </p:nvSpPr>
        <p:spPr>
          <a:xfrm>
            <a:off x="6858000" y="3657600"/>
            <a:ext cx="202996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8C1B5"/>
            </a:solidFill>
          </a:ln>
        </p:spPr>
      </p:sp>
      <p:sp>
        <p:nvSpPr>
          <p:cNvPr id="36" name="CardAccent 6"/>
          <p:cNvSpPr/>
          <p:nvPr/>
        </p:nvSpPr>
        <p:spPr>
          <a:xfrm>
            <a:off x="6858000" y="3657600"/>
            <a:ext cx="109728" cy="105156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56" name="CardText 6"/>
          <p:cNvSpPr txBox="1"/>
          <p:nvPr/>
        </p:nvSpPr>
        <p:spPr>
          <a:xfrm>
            <a:off x="7114032" y="3822191"/>
            <a:ext cx="1536192" cy="7132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>
                <a:solidFill>
                  <a:srgbClr val="1E2428"/>
                </a:solidFill>
              </a:rPr>
              <a:t>Releases</a:t>
            </a:r>
          </a:p>
          <a:p>
            <a:r>
              <a:rPr lang="fr-FR" sz="1200">
                <a:solidFill>
                  <a:srgbClr val="1E2428"/>
                </a:solidFill>
              </a:rPr>
              <a:t>versions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11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204B34"/>
                </a:solidFill>
              </a:rPr>
              <a:t>Trois piliers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896112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900" b="1">
                <a:solidFill>
                  <a:srgbClr val="101820"/>
                </a:solidFill>
              </a:rPr>
              <a:t>Comprendre, exécuter, appliquer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914400" y="1938528"/>
            <a:ext cx="7635240" cy="2697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800">
                <a:solidFill>
                  <a:srgbClr val="1E2428"/>
                </a:solidFill>
              </a:rPr>
              <a:t>- Vision : changement IA et New Paradigm IA.</a:t>
            </a:r>
          </a:p>
          <a:p>
            <a:r>
              <a:rPr lang="fr-FR" sz="1800">
                <a:solidFill>
                  <a:srgbClr val="1E2428"/>
                </a:solidFill>
              </a:rPr>
              <a:t>- Manuel : déroulé, checklist, script.</a:t>
            </a:r>
          </a:p>
          <a:p>
            <a:r>
              <a:rPr lang="fr-FR" sz="1800">
                <a:solidFill>
                  <a:srgbClr val="1E2428"/>
                </a:solidFill>
              </a:rPr>
              <a:t>- Référentiel : prompts, grilles, modèles.</a:t>
            </a:r>
          </a:p>
          <a:p>
            <a:r>
              <a:rPr lang="fr-FR" sz="1800">
                <a:solidFill>
                  <a:srgbClr val="1E2428"/>
                </a:solidFill>
              </a:rPr>
              <a:t>- Pratique : landing page et livrable réel.</a:t>
            </a:r>
          </a:p>
        </p:txBody>
      </p:sp>
      <p:sp>
        <p:nvSpPr>
          <p:cNvPr id="8" name="Note"/>
          <p:cNvSpPr/>
          <p:nvPr/>
        </p:nvSpPr>
        <p:spPr>
          <a:xfrm>
            <a:off x="9281160" y="1828800"/>
            <a:ext cx="2103120" cy="2148840"/>
          </a:xfrm>
          <a:prstGeom prst="rect">
            <a:avLst/>
          </a:prstGeom>
          <a:solidFill>
            <a:srgbClr val="E6F0E8"/>
          </a:solidFill>
          <a:ln>
            <a:solidFill>
              <a:srgbClr val="A9DFBF"/>
            </a:solidFill>
          </a:ln>
        </p:spPr>
      </p:sp>
      <p:sp>
        <p:nvSpPr>
          <p:cNvPr id="9" name="Note Text"/>
          <p:cNvSpPr txBox="1"/>
          <p:nvPr/>
        </p:nvSpPr>
        <p:spPr>
          <a:xfrm>
            <a:off x="9528048" y="2121408"/>
            <a:ext cx="1591056" cy="1371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101820"/>
                </a:solidFill>
              </a:rPr>
              <a:t>Action participant</a:t>
            </a:r>
          </a:p>
          <a:p>
            <a:r>
              <a:rPr lang="fr-FR" sz="1400" b="1">
                <a:solidFill>
                  <a:srgbClr val="101820"/>
                </a:solidFill>
              </a:rPr>
              <a:t/>
            </a:r>
          </a:p>
          <a:p>
            <a:r>
              <a:rPr lang="fr-FR" sz="1400" b="1">
                <a:solidFill>
                  <a:srgbClr val="101820"/>
                </a:solidFill>
              </a:rPr>
              <a:t>Noter une application directe.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12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F2C86B"/>
                </a:solidFill>
              </a:rPr>
              <a:t>Livrables concrets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896112"/>
            <a:ext cx="649224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900" b="1">
                <a:solidFill>
                  <a:srgbClr val="FFFFFF"/>
                </a:solidFill>
              </a:rPr>
              <a:t>La crédibilité vient des productions visibles</a:t>
            </a:r>
          </a:p>
        </p:txBody>
      </p:sp>
      <p:sp>
        <p:nvSpPr>
          <p:cNvPr id="7" name="Body"/>
          <p:cNvSpPr txBox="1"/>
          <p:nvPr/>
        </p:nvSpPr>
        <p:spPr>
          <a:xfrm>
            <a:off x="731520" y="2148840"/>
            <a:ext cx="4937760" cy="17373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800">
                <a:solidFill>
                  <a:srgbClr val="F7F7F4"/>
                </a:solidFill>
              </a:rPr>
              <a:t>Landing page publiée, kit atelier complet, supports de facilitation, présentations PPTX et notes de release GitHub.</a:t>
            </a:r>
          </a:p>
        </p:txBody>
      </p:sp>
      <p:pic>
        <p:nvPicPr>
          <p:cNvPr id="8" name="programme-webinaire-atelier-ln-ia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7360920" y="1234440"/>
            <a:ext cx="3063240" cy="3063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13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94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 b="1">
                <a:solidFill>
                  <a:srgbClr val="F2C86B"/>
                </a:solidFill>
              </a:rPr>
              <a:t>Axe 3 - Pour qui ?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1115568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800" b="1">
                <a:solidFill>
                  <a:srgbClr val="FFFFFF"/>
                </a:solidFill>
              </a:rPr>
              <a:t>Coachs, managers, formateurs, responsables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731520" y="2999232"/>
            <a:ext cx="740664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900">
                <a:solidFill>
                  <a:srgbClr val="F7F7F4"/>
                </a:solidFill>
              </a:rPr>
              <a:t>Le laboratoire est accessible à plusieurs profils, avec des niveaux d'entrée différents.</a:t>
            </a:r>
          </a:p>
        </p:txBody>
      </p:sp>
      <p:sp>
        <p:nvSpPr>
          <p:cNvPr id="8" name="Signal"/>
          <p:cNvSpPr/>
          <p:nvPr/>
        </p:nvSpPr>
        <p:spPr>
          <a:xfrm>
            <a:off x="8869680" y="1115568"/>
            <a:ext cx="2148840" cy="214884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9" name="Signal Text"/>
          <p:cNvSpPr txBox="1"/>
          <p:nvPr/>
        </p:nvSpPr>
        <p:spPr>
          <a:xfrm>
            <a:off x="9189720" y="1572768"/>
            <a:ext cx="1508760" cy="10058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000" b="1">
                <a:solidFill>
                  <a:srgbClr val="101820"/>
                </a:solidFill>
              </a:rPr>
              <a:t>Vision</a:t>
            </a:r>
          </a:p>
          <a:p>
            <a:r>
              <a:rPr lang="fr-FR" sz="2000" b="1">
                <a:solidFill>
                  <a:srgbClr val="101820"/>
                </a:solidFill>
              </a:rPr>
              <a:t>Méthode</a:t>
            </a:r>
          </a:p>
          <a:p>
            <a:r>
              <a:rPr lang="fr-FR" sz="2000" b="1">
                <a:solidFill>
                  <a:srgbClr val="101820"/>
                </a:solidFill>
              </a:rPr>
              <a:t>Production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14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204B34"/>
                </a:solidFill>
              </a:rPr>
              <a:t>Rôles possibles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896112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900" b="1">
                <a:solidFill>
                  <a:srgbClr val="101820"/>
                </a:solidFill>
              </a:rPr>
              <a:t>Contribuer sans être développeur</a:t>
            </a:r>
          </a:p>
        </p:txBody>
      </p:sp>
      <p:sp>
        <p:nvSpPr>
          <p:cNvPr id="10" name="Card 0"/>
          <p:cNvSpPr/>
          <p:nvPr/>
        </p:nvSpPr>
        <p:spPr>
          <a:xfrm>
            <a:off x="822960" y="1965960"/>
            <a:ext cx="202996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8C1B5"/>
            </a:solidFill>
          </a:ln>
        </p:spPr>
      </p:sp>
      <p:sp>
        <p:nvSpPr>
          <p:cNvPr id="30" name="CardAccent 0"/>
          <p:cNvSpPr/>
          <p:nvPr/>
        </p:nvSpPr>
        <p:spPr>
          <a:xfrm>
            <a:off x="822960" y="1965960"/>
            <a:ext cx="109728" cy="105156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50" name="CardText 0"/>
          <p:cNvSpPr txBox="1"/>
          <p:nvPr/>
        </p:nvSpPr>
        <p:spPr>
          <a:xfrm>
            <a:off x="1078992" y="2130552"/>
            <a:ext cx="1536192" cy="7132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1E2428"/>
                </a:solidFill>
              </a:rPr>
              <a:t>Rédiger</a:t>
            </a:r>
          </a:p>
          <a:p>
            <a:r>
              <a:rPr lang="fr-FR" sz="1200" b="1">
                <a:solidFill>
                  <a:srgbClr val="1E2428"/>
                </a:solidFill>
              </a:rPr>
              <a:t>clarifier</a:t>
            </a:r>
          </a:p>
        </p:txBody>
      </p:sp>
      <p:sp>
        <p:nvSpPr>
          <p:cNvPr id="11" name="Card 1"/>
          <p:cNvSpPr/>
          <p:nvPr/>
        </p:nvSpPr>
        <p:spPr>
          <a:xfrm>
            <a:off x="3246120" y="1965960"/>
            <a:ext cx="202996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8C1B5"/>
            </a:solidFill>
          </a:ln>
        </p:spPr>
      </p:sp>
      <p:sp>
        <p:nvSpPr>
          <p:cNvPr id="31" name="CardAccent 1"/>
          <p:cNvSpPr/>
          <p:nvPr/>
        </p:nvSpPr>
        <p:spPr>
          <a:xfrm>
            <a:off x="3246120" y="1965960"/>
            <a:ext cx="109728" cy="105156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51" name="CardText 1"/>
          <p:cNvSpPr txBox="1"/>
          <p:nvPr/>
        </p:nvSpPr>
        <p:spPr>
          <a:xfrm>
            <a:off x="3502152" y="2130552"/>
            <a:ext cx="1536192" cy="7132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1E2428"/>
                </a:solidFill>
              </a:rPr>
              <a:t>Relire</a:t>
            </a:r>
          </a:p>
          <a:p>
            <a:r>
              <a:rPr lang="fr-FR" sz="1200" b="1">
                <a:solidFill>
                  <a:srgbClr val="1E2428"/>
                </a:solidFill>
              </a:rPr>
              <a:t>qualité</a:t>
            </a:r>
          </a:p>
        </p:txBody>
      </p:sp>
      <p:sp>
        <p:nvSpPr>
          <p:cNvPr id="12" name="Card 2"/>
          <p:cNvSpPr/>
          <p:nvPr/>
        </p:nvSpPr>
        <p:spPr>
          <a:xfrm>
            <a:off x="5669280" y="1965960"/>
            <a:ext cx="202996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8C1B5"/>
            </a:solidFill>
          </a:ln>
        </p:spPr>
      </p:sp>
      <p:sp>
        <p:nvSpPr>
          <p:cNvPr id="32" name="CardAccent 2"/>
          <p:cNvSpPr/>
          <p:nvPr/>
        </p:nvSpPr>
        <p:spPr>
          <a:xfrm>
            <a:off x="5669280" y="1965960"/>
            <a:ext cx="109728" cy="105156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52" name="CardText 2"/>
          <p:cNvSpPr txBox="1"/>
          <p:nvPr/>
        </p:nvSpPr>
        <p:spPr>
          <a:xfrm>
            <a:off x="5925312" y="2130552"/>
            <a:ext cx="1536192" cy="7132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1E2428"/>
                </a:solidFill>
              </a:rPr>
              <a:t>Tester</a:t>
            </a:r>
          </a:p>
          <a:p>
            <a:r>
              <a:rPr lang="fr-FR" sz="1200" b="1">
                <a:solidFill>
                  <a:srgbClr val="1E2428"/>
                </a:solidFill>
              </a:rPr>
              <a:t>prompt</a:t>
            </a:r>
          </a:p>
        </p:txBody>
      </p:sp>
      <p:sp>
        <p:nvSpPr>
          <p:cNvPr id="13" name="Card 3"/>
          <p:cNvSpPr/>
          <p:nvPr/>
        </p:nvSpPr>
        <p:spPr>
          <a:xfrm>
            <a:off x="8092440" y="1965960"/>
            <a:ext cx="202996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8C1B5"/>
            </a:solidFill>
          </a:ln>
        </p:spPr>
      </p:sp>
      <p:sp>
        <p:nvSpPr>
          <p:cNvPr id="33" name="CardAccent 3"/>
          <p:cNvSpPr/>
          <p:nvPr/>
        </p:nvSpPr>
        <p:spPr>
          <a:xfrm>
            <a:off x="8092440" y="1965960"/>
            <a:ext cx="109728" cy="105156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53" name="CardText 3"/>
          <p:cNvSpPr txBox="1"/>
          <p:nvPr/>
        </p:nvSpPr>
        <p:spPr>
          <a:xfrm>
            <a:off x="8348471" y="2130552"/>
            <a:ext cx="1536192" cy="7132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1E2428"/>
                </a:solidFill>
              </a:rPr>
              <a:t>Analyser</a:t>
            </a:r>
          </a:p>
          <a:p>
            <a:r>
              <a:rPr lang="fr-FR" sz="1200" b="1">
                <a:solidFill>
                  <a:srgbClr val="1E2428"/>
                </a:solidFill>
              </a:rPr>
              <a:t>page</a:t>
            </a:r>
          </a:p>
        </p:txBody>
      </p:sp>
      <p:sp>
        <p:nvSpPr>
          <p:cNvPr id="14" name="Card 4"/>
          <p:cNvSpPr/>
          <p:nvPr/>
        </p:nvSpPr>
        <p:spPr>
          <a:xfrm>
            <a:off x="2011680" y="3657600"/>
            <a:ext cx="202996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8C1B5"/>
            </a:solidFill>
          </a:ln>
        </p:spPr>
      </p:sp>
      <p:sp>
        <p:nvSpPr>
          <p:cNvPr id="34" name="CardAccent 4"/>
          <p:cNvSpPr/>
          <p:nvPr/>
        </p:nvSpPr>
        <p:spPr>
          <a:xfrm>
            <a:off x="2011680" y="3657600"/>
            <a:ext cx="109728" cy="105156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54" name="CardText 4"/>
          <p:cNvSpPr txBox="1"/>
          <p:nvPr/>
        </p:nvSpPr>
        <p:spPr>
          <a:xfrm>
            <a:off x="2267712" y="3822191"/>
            <a:ext cx="1536192" cy="7132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>
                <a:solidFill>
                  <a:srgbClr val="1E2428"/>
                </a:solidFill>
              </a:rPr>
              <a:t>Créer</a:t>
            </a:r>
          </a:p>
          <a:p>
            <a:r>
              <a:rPr lang="fr-FR" sz="1200">
                <a:solidFill>
                  <a:srgbClr val="1E2428"/>
                </a:solidFill>
              </a:rPr>
              <a:t>visuel</a:t>
            </a:r>
          </a:p>
        </p:txBody>
      </p:sp>
      <p:sp>
        <p:nvSpPr>
          <p:cNvPr id="15" name="Card 5"/>
          <p:cNvSpPr/>
          <p:nvPr/>
        </p:nvSpPr>
        <p:spPr>
          <a:xfrm>
            <a:off x="4434840" y="3657600"/>
            <a:ext cx="202996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8C1B5"/>
            </a:solidFill>
          </a:ln>
        </p:spPr>
      </p:sp>
      <p:sp>
        <p:nvSpPr>
          <p:cNvPr id="35" name="CardAccent 5"/>
          <p:cNvSpPr/>
          <p:nvPr/>
        </p:nvSpPr>
        <p:spPr>
          <a:xfrm>
            <a:off x="4434840" y="3657600"/>
            <a:ext cx="109728" cy="105156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55" name="CardText 5"/>
          <p:cNvSpPr txBox="1"/>
          <p:nvPr/>
        </p:nvSpPr>
        <p:spPr>
          <a:xfrm>
            <a:off x="4690872" y="3822191"/>
            <a:ext cx="1536192" cy="7132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>
                <a:solidFill>
                  <a:srgbClr val="1E2428"/>
                </a:solidFill>
              </a:rPr>
              <a:t>Animer</a:t>
            </a:r>
          </a:p>
          <a:p>
            <a:r>
              <a:rPr lang="fr-FR" sz="1200">
                <a:solidFill>
                  <a:srgbClr val="1E2428"/>
                </a:solidFill>
              </a:rPr>
              <a:t>groupe</a:t>
            </a:r>
          </a:p>
        </p:txBody>
      </p:sp>
      <p:sp>
        <p:nvSpPr>
          <p:cNvPr id="16" name="Card 6"/>
          <p:cNvSpPr/>
          <p:nvPr/>
        </p:nvSpPr>
        <p:spPr>
          <a:xfrm>
            <a:off x="6858000" y="3657600"/>
            <a:ext cx="2029968" cy="1051560"/>
          </a:xfrm>
          <a:prstGeom prst="rect">
            <a:avLst/>
          </a:prstGeom>
          <a:solidFill>
            <a:srgbClr val="FFFFFF"/>
          </a:solidFill>
          <a:ln>
            <a:solidFill>
              <a:srgbClr val="C8C1B5"/>
            </a:solidFill>
          </a:ln>
        </p:spPr>
      </p:sp>
      <p:sp>
        <p:nvSpPr>
          <p:cNvPr id="36" name="CardAccent 6"/>
          <p:cNvSpPr/>
          <p:nvPr/>
        </p:nvSpPr>
        <p:spPr>
          <a:xfrm>
            <a:off x="6858000" y="3657600"/>
            <a:ext cx="109728" cy="105156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56" name="CardText 6"/>
          <p:cNvSpPr txBox="1"/>
          <p:nvPr/>
        </p:nvSpPr>
        <p:spPr>
          <a:xfrm>
            <a:off x="7114032" y="3822191"/>
            <a:ext cx="1536192" cy="7132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>
                <a:solidFill>
                  <a:srgbClr val="1E2428"/>
                </a:solidFill>
              </a:rPr>
              <a:t>Documenter</a:t>
            </a:r>
          </a:p>
          <a:p>
            <a:r>
              <a:rPr lang="fr-FR" sz="1200">
                <a:solidFill>
                  <a:srgbClr val="1E2428"/>
                </a:solidFill>
              </a:rPr>
              <a:t>trace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15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204B34"/>
                </a:solidFill>
              </a:rPr>
              <a:t>Bénéfices par profil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896112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900" b="1">
                <a:solidFill>
                  <a:srgbClr val="101820"/>
                </a:solidFill>
              </a:rPr>
              <a:t>Chaque participant gagne en autonomie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914400" y="1938528"/>
            <a:ext cx="7635240" cy="2697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800">
                <a:solidFill>
                  <a:srgbClr val="1E2428"/>
                </a:solidFill>
              </a:rPr>
              <a:t>- Coach : préparer, simuler, synthétiser.</a:t>
            </a:r>
          </a:p>
          <a:p>
            <a:r>
              <a:rPr lang="fr-FR" sz="1800">
                <a:solidFill>
                  <a:srgbClr val="1E2428"/>
                </a:solidFill>
              </a:rPr>
              <a:t>- Manager : piloter, cadrer, décider.</a:t>
            </a:r>
          </a:p>
          <a:p>
            <a:r>
              <a:rPr lang="fr-FR" sz="1800">
                <a:solidFill>
                  <a:srgbClr val="1E2428"/>
                </a:solidFill>
              </a:rPr>
              <a:t>- Formateur : transmettre et évaluer.</a:t>
            </a:r>
          </a:p>
          <a:p>
            <a:r>
              <a:rPr lang="fr-FR" sz="1800">
                <a:solidFill>
                  <a:srgbClr val="1E2428"/>
                </a:solidFill>
              </a:rPr>
              <a:t>- Communauté : capitaliser et publier.</a:t>
            </a:r>
          </a:p>
        </p:txBody>
      </p:sp>
      <p:sp>
        <p:nvSpPr>
          <p:cNvPr id="8" name="Note"/>
          <p:cNvSpPr/>
          <p:nvPr/>
        </p:nvSpPr>
        <p:spPr>
          <a:xfrm>
            <a:off x="9281160" y="1828800"/>
            <a:ext cx="2103120" cy="2148840"/>
          </a:xfrm>
          <a:prstGeom prst="rect">
            <a:avLst/>
          </a:prstGeom>
          <a:solidFill>
            <a:srgbClr val="E6F0E8"/>
          </a:solidFill>
          <a:ln>
            <a:solidFill>
              <a:srgbClr val="A9DFBF"/>
            </a:solidFill>
          </a:ln>
        </p:spPr>
      </p:sp>
      <p:sp>
        <p:nvSpPr>
          <p:cNvPr id="9" name="Note Text"/>
          <p:cNvSpPr txBox="1"/>
          <p:nvPr/>
        </p:nvSpPr>
        <p:spPr>
          <a:xfrm>
            <a:off x="9528048" y="2121408"/>
            <a:ext cx="1591056" cy="1371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101820"/>
                </a:solidFill>
              </a:rPr>
              <a:t>Action participant</a:t>
            </a:r>
          </a:p>
          <a:p>
            <a:r>
              <a:rPr lang="fr-FR" sz="1400" b="1">
                <a:solidFill>
                  <a:srgbClr val="101820"/>
                </a:solidFill>
              </a:rPr>
              <a:t/>
            </a:r>
          </a:p>
          <a:p>
            <a:r>
              <a:rPr lang="fr-FR" sz="1400" b="1">
                <a:solidFill>
                  <a:srgbClr val="101820"/>
                </a:solidFill>
              </a:rPr>
              <a:t>Noter une application directe.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16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94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 b="1">
                <a:solidFill>
                  <a:srgbClr val="F2C86B"/>
                </a:solidFill>
              </a:rPr>
              <a:t>Axe 4 - Comment ?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1115568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800" b="1">
                <a:solidFill>
                  <a:srgbClr val="FFFFFF"/>
                </a:solidFill>
              </a:rPr>
              <a:t>Commencer simple, produire vite, documenter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731520" y="2999232"/>
            <a:ext cx="740664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900">
                <a:solidFill>
                  <a:srgbClr val="F7F7F4"/>
                </a:solidFill>
              </a:rPr>
              <a:t>Une routine courte, des mini-projets, des supports et des releases.</a:t>
            </a:r>
          </a:p>
        </p:txBody>
      </p:sp>
      <p:sp>
        <p:nvSpPr>
          <p:cNvPr id="8" name="Signal"/>
          <p:cNvSpPr/>
          <p:nvPr/>
        </p:nvSpPr>
        <p:spPr>
          <a:xfrm>
            <a:off x="8869680" y="1115568"/>
            <a:ext cx="2148840" cy="214884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9" name="Signal Text"/>
          <p:cNvSpPr txBox="1"/>
          <p:nvPr/>
        </p:nvSpPr>
        <p:spPr>
          <a:xfrm>
            <a:off x="9189720" y="1572768"/>
            <a:ext cx="1508760" cy="10058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000" b="1">
                <a:solidFill>
                  <a:srgbClr val="101820"/>
                </a:solidFill>
              </a:rPr>
              <a:t>Vision</a:t>
            </a:r>
          </a:p>
          <a:p>
            <a:r>
              <a:rPr lang="fr-FR" sz="2000" b="1">
                <a:solidFill>
                  <a:srgbClr val="101820"/>
                </a:solidFill>
              </a:rPr>
              <a:t>Méthode</a:t>
            </a:r>
          </a:p>
          <a:p>
            <a:r>
              <a:rPr lang="fr-FR" sz="2000" b="1">
                <a:solidFill>
                  <a:srgbClr val="101820"/>
                </a:solidFill>
              </a:rPr>
              <a:t>Production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17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204B34"/>
                </a:solidFill>
              </a:rPr>
              <a:t>Kit atelier comme moteur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896112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900" b="1">
                <a:solidFill>
                  <a:srgbClr val="101820"/>
                </a:solidFill>
              </a:rPr>
              <a:t>Un programme d'action prêt à animer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914400" y="1938528"/>
            <a:ext cx="7635240" cy="2697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800">
                <a:solidFill>
                  <a:srgbClr val="1E2428"/>
                </a:solidFill>
              </a:rPr>
              <a:t>- Guide animateur.</a:t>
            </a:r>
          </a:p>
          <a:p>
            <a:r>
              <a:rPr lang="fr-FR" sz="1800">
                <a:solidFill>
                  <a:srgbClr val="1E2428"/>
                </a:solidFill>
              </a:rPr>
              <a:t>- Cartes de facilitation.</a:t>
            </a:r>
          </a:p>
          <a:p>
            <a:r>
              <a:rPr lang="fr-FR" sz="1800">
                <a:solidFill>
                  <a:srgbClr val="1E2428"/>
                </a:solidFill>
              </a:rPr>
              <a:t>- Sélection des modèles IA.</a:t>
            </a:r>
          </a:p>
          <a:p>
            <a:r>
              <a:rPr lang="fr-FR" sz="1800">
                <a:solidFill>
                  <a:srgbClr val="1E2428"/>
                </a:solidFill>
              </a:rPr>
              <a:t>- Plan de slides.</a:t>
            </a:r>
          </a:p>
          <a:p>
            <a:r>
              <a:rPr lang="fr-FR" sz="1800">
                <a:solidFill>
                  <a:srgbClr val="1E2428"/>
                </a:solidFill>
              </a:rPr>
              <a:t>- Grille landing page.</a:t>
            </a:r>
          </a:p>
          <a:p>
            <a:r>
              <a:rPr lang="fr-FR" sz="1800">
                <a:solidFill>
                  <a:srgbClr val="1E2428"/>
                </a:solidFill>
              </a:rPr>
              <a:t>- Prompt maître.</a:t>
            </a:r>
          </a:p>
        </p:txBody>
      </p:sp>
      <p:sp>
        <p:nvSpPr>
          <p:cNvPr id="8" name="Note"/>
          <p:cNvSpPr/>
          <p:nvPr/>
        </p:nvSpPr>
        <p:spPr>
          <a:xfrm>
            <a:off x="9281160" y="1828800"/>
            <a:ext cx="2103120" cy="2148840"/>
          </a:xfrm>
          <a:prstGeom prst="rect">
            <a:avLst/>
          </a:prstGeom>
          <a:solidFill>
            <a:srgbClr val="E6F0E8"/>
          </a:solidFill>
          <a:ln>
            <a:solidFill>
              <a:srgbClr val="A9DFBF"/>
            </a:solidFill>
          </a:ln>
        </p:spPr>
      </p:sp>
      <p:sp>
        <p:nvSpPr>
          <p:cNvPr id="9" name="Note Text"/>
          <p:cNvSpPr txBox="1"/>
          <p:nvPr/>
        </p:nvSpPr>
        <p:spPr>
          <a:xfrm>
            <a:off x="9528048" y="2121408"/>
            <a:ext cx="1591056" cy="1371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101820"/>
                </a:solidFill>
              </a:rPr>
              <a:t>Action participant</a:t>
            </a:r>
          </a:p>
          <a:p>
            <a:r>
              <a:rPr lang="fr-FR" sz="1400" b="1">
                <a:solidFill>
                  <a:srgbClr val="101820"/>
                </a:solidFill>
              </a:rPr>
              <a:t/>
            </a:r>
          </a:p>
          <a:p>
            <a:r>
              <a:rPr lang="fr-FR" sz="1400" b="1">
                <a:solidFill>
                  <a:srgbClr val="101820"/>
                </a:solidFill>
              </a:rPr>
              <a:t>Noter une application directe.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18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F2C86B"/>
                </a:solidFill>
              </a:rPr>
              <a:t>Méthode de travail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896112"/>
            <a:ext cx="813816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900" b="1">
                <a:solidFill>
                  <a:srgbClr val="FFFFFF"/>
                </a:solidFill>
              </a:rPr>
              <a:t>Comprendre, pratiquer, documenter, partager</a:t>
            </a:r>
          </a:p>
        </p:txBody>
      </p:sp>
      <p:sp>
        <p:nvSpPr>
          <p:cNvPr id="11" name="Step 1"/>
          <p:cNvSpPr/>
          <p:nvPr/>
        </p:nvSpPr>
        <p:spPr>
          <a:xfrm>
            <a:off x="777240" y="2148840"/>
            <a:ext cx="1965960" cy="109728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21" name="StepText 1"/>
          <p:cNvSpPr txBox="1"/>
          <p:nvPr/>
        </p:nvSpPr>
        <p:spPr>
          <a:xfrm>
            <a:off x="978408" y="2331720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 b="1">
                <a:solidFill>
                  <a:srgbClr val="101820"/>
                </a:solidFill>
              </a:rPr>
              <a:t>1</a:t>
            </a:r>
          </a:p>
          <a:p>
            <a:r>
              <a:rPr lang="fr-FR" sz="1600" b="1">
                <a:solidFill>
                  <a:srgbClr val="101820"/>
                </a:solidFill>
              </a:rPr>
              <a:t>Objectif</a:t>
            </a:r>
          </a:p>
        </p:txBody>
      </p:sp>
      <p:sp>
        <p:nvSpPr>
          <p:cNvPr id="12" name="Step 2"/>
          <p:cNvSpPr/>
          <p:nvPr/>
        </p:nvSpPr>
        <p:spPr>
          <a:xfrm>
            <a:off x="2926080" y="2148840"/>
            <a:ext cx="1965960" cy="109728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22" name="StepText 2"/>
          <p:cNvSpPr txBox="1"/>
          <p:nvPr/>
        </p:nvSpPr>
        <p:spPr>
          <a:xfrm>
            <a:off x="3127248" y="2331720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 b="1">
                <a:solidFill>
                  <a:srgbClr val="101820"/>
                </a:solidFill>
              </a:rPr>
              <a:t>2</a:t>
            </a:r>
          </a:p>
          <a:p>
            <a:r>
              <a:rPr lang="fr-FR" sz="1600" b="1">
                <a:solidFill>
                  <a:srgbClr val="101820"/>
                </a:solidFill>
              </a:rPr>
              <a:t>Prompt</a:t>
            </a:r>
          </a:p>
        </p:txBody>
      </p:sp>
      <p:sp>
        <p:nvSpPr>
          <p:cNvPr id="13" name="Step 3"/>
          <p:cNvSpPr/>
          <p:nvPr/>
        </p:nvSpPr>
        <p:spPr>
          <a:xfrm>
            <a:off x="5074920" y="2148840"/>
            <a:ext cx="1965960" cy="109728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23" name="StepText 3"/>
          <p:cNvSpPr txBox="1"/>
          <p:nvPr/>
        </p:nvSpPr>
        <p:spPr>
          <a:xfrm>
            <a:off x="5276088" y="2331720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 b="1">
                <a:solidFill>
                  <a:srgbClr val="101820"/>
                </a:solidFill>
              </a:rPr>
              <a:t>3</a:t>
            </a:r>
          </a:p>
          <a:p>
            <a:r>
              <a:rPr lang="fr-FR" sz="1600" b="1">
                <a:solidFill>
                  <a:srgbClr val="101820"/>
                </a:solidFill>
              </a:rPr>
              <a:t>Livrable</a:t>
            </a:r>
          </a:p>
        </p:txBody>
      </p:sp>
      <p:sp>
        <p:nvSpPr>
          <p:cNvPr id="14" name="Step 4"/>
          <p:cNvSpPr/>
          <p:nvPr/>
        </p:nvSpPr>
        <p:spPr>
          <a:xfrm>
            <a:off x="7223760" y="2148840"/>
            <a:ext cx="1965960" cy="109728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24" name="StepText 4"/>
          <p:cNvSpPr txBox="1"/>
          <p:nvPr/>
        </p:nvSpPr>
        <p:spPr>
          <a:xfrm>
            <a:off x="7424928" y="2331720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 b="1">
                <a:solidFill>
                  <a:srgbClr val="101820"/>
                </a:solidFill>
              </a:rPr>
              <a:t>4</a:t>
            </a:r>
          </a:p>
          <a:p>
            <a:r>
              <a:rPr lang="fr-FR" sz="1600" b="1">
                <a:solidFill>
                  <a:srgbClr val="101820"/>
                </a:solidFill>
              </a:rPr>
              <a:t>Validation</a:t>
            </a:r>
          </a:p>
        </p:txBody>
      </p:sp>
      <p:sp>
        <p:nvSpPr>
          <p:cNvPr id="15" name="Step 5"/>
          <p:cNvSpPr/>
          <p:nvPr/>
        </p:nvSpPr>
        <p:spPr>
          <a:xfrm>
            <a:off x="9372600" y="2148840"/>
            <a:ext cx="1965960" cy="109728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25" name="StepText 5"/>
          <p:cNvSpPr txBox="1"/>
          <p:nvPr/>
        </p:nvSpPr>
        <p:spPr>
          <a:xfrm>
            <a:off x="9573768" y="2331720"/>
            <a:ext cx="1572768" cy="658368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600" b="1">
                <a:solidFill>
                  <a:srgbClr val="101820"/>
                </a:solidFill>
              </a:rPr>
              <a:t>5</a:t>
            </a:r>
          </a:p>
          <a:p>
            <a:r>
              <a:rPr lang="fr-FR" sz="1600" b="1">
                <a:solidFill>
                  <a:srgbClr val="101820"/>
                </a:solidFill>
              </a:rPr>
              <a:t>Release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19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204B34"/>
                </a:solidFill>
              </a:rPr>
              <a:t>Challenge 100 jours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896112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900" b="1">
                <a:solidFill>
                  <a:srgbClr val="101820"/>
                </a:solidFill>
              </a:rPr>
              <a:t>Transformer la vision en mouvement</a:t>
            </a:r>
          </a:p>
        </p:txBody>
      </p:sp>
      <p:sp>
        <p:nvSpPr>
          <p:cNvPr id="7" name="Line"/>
          <p:cNvSpPr/>
          <p:nvPr/>
        </p:nvSpPr>
        <p:spPr>
          <a:xfrm>
            <a:off x="914400" y="2743200"/>
            <a:ext cx="9875520" cy="54864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20" name="Dot 0"/>
          <p:cNvSpPr/>
          <p:nvPr/>
        </p:nvSpPr>
        <p:spPr>
          <a:xfrm>
            <a:off x="914400" y="2423160"/>
            <a:ext cx="1234440" cy="640080"/>
          </a:xfrm>
          <a:prstGeom prst="rect">
            <a:avLst/>
          </a:prstGeom>
          <a:solidFill>
            <a:srgbClr val="101820"/>
          </a:solidFill>
          <a:ln>
            <a:noFill/>
          </a:ln>
        </p:spPr>
      </p:sp>
      <p:sp>
        <p:nvSpPr>
          <p:cNvPr id="40" name="Period 0"/>
          <p:cNvSpPr txBox="1"/>
          <p:nvPr/>
        </p:nvSpPr>
        <p:spPr>
          <a:xfrm>
            <a:off x="1024128" y="25877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100" b="1">
                <a:solidFill>
                  <a:srgbClr val="FFFFFF"/>
                </a:solidFill>
              </a:rPr>
              <a:t>J1-J10</a:t>
            </a:r>
          </a:p>
        </p:txBody>
      </p:sp>
      <p:sp>
        <p:nvSpPr>
          <p:cNvPr id="60" name="Label 0"/>
          <p:cNvSpPr txBox="1"/>
          <p:nvPr/>
        </p:nvSpPr>
        <p:spPr>
          <a:xfrm>
            <a:off x="868680" y="3273552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 b="1">
                <a:solidFill>
                  <a:srgbClr val="1E2428"/>
                </a:solidFill>
              </a:rPr>
              <a:t>Alignement</a:t>
            </a:r>
          </a:p>
        </p:txBody>
      </p:sp>
      <p:sp>
        <p:nvSpPr>
          <p:cNvPr id="21" name="Dot 1"/>
          <p:cNvSpPr/>
          <p:nvPr/>
        </p:nvSpPr>
        <p:spPr>
          <a:xfrm>
            <a:off x="2971800" y="2423160"/>
            <a:ext cx="1234440" cy="640080"/>
          </a:xfrm>
          <a:prstGeom prst="rect">
            <a:avLst/>
          </a:prstGeom>
          <a:solidFill>
            <a:srgbClr val="101820"/>
          </a:solidFill>
          <a:ln>
            <a:noFill/>
          </a:ln>
        </p:spPr>
      </p:sp>
      <p:sp>
        <p:nvSpPr>
          <p:cNvPr id="41" name="Period 1"/>
          <p:cNvSpPr txBox="1"/>
          <p:nvPr/>
        </p:nvSpPr>
        <p:spPr>
          <a:xfrm>
            <a:off x="3081528" y="25877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100" b="1">
                <a:solidFill>
                  <a:srgbClr val="FFFFFF"/>
                </a:solidFill>
              </a:rPr>
              <a:t>J11-J35</a:t>
            </a:r>
          </a:p>
        </p:txBody>
      </p:sp>
      <p:sp>
        <p:nvSpPr>
          <p:cNvPr id="61" name="Label 1"/>
          <p:cNvSpPr txBox="1"/>
          <p:nvPr/>
        </p:nvSpPr>
        <p:spPr>
          <a:xfrm>
            <a:off x="2926080" y="3273552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 b="1">
                <a:solidFill>
                  <a:srgbClr val="1E2428"/>
                </a:solidFill>
              </a:rPr>
              <a:t>Initiation</a:t>
            </a:r>
          </a:p>
        </p:txBody>
      </p:sp>
      <p:sp>
        <p:nvSpPr>
          <p:cNvPr id="22" name="Dot 2"/>
          <p:cNvSpPr/>
          <p:nvPr/>
        </p:nvSpPr>
        <p:spPr>
          <a:xfrm>
            <a:off x="5029200" y="2423160"/>
            <a:ext cx="1234440" cy="640080"/>
          </a:xfrm>
          <a:prstGeom prst="rect">
            <a:avLst/>
          </a:prstGeom>
          <a:solidFill>
            <a:srgbClr val="101820"/>
          </a:solidFill>
          <a:ln>
            <a:noFill/>
          </a:ln>
        </p:spPr>
      </p:sp>
      <p:sp>
        <p:nvSpPr>
          <p:cNvPr id="42" name="Period 2"/>
          <p:cNvSpPr txBox="1"/>
          <p:nvPr/>
        </p:nvSpPr>
        <p:spPr>
          <a:xfrm>
            <a:off x="5138928" y="25877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100" b="1">
                <a:solidFill>
                  <a:srgbClr val="FFFFFF"/>
                </a:solidFill>
              </a:rPr>
              <a:t>J36-J70</a:t>
            </a:r>
          </a:p>
        </p:txBody>
      </p:sp>
      <p:sp>
        <p:nvSpPr>
          <p:cNvPr id="62" name="Label 2"/>
          <p:cNvSpPr txBox="1"/>
          <p:nvPr/>
        </p:nvSpPr>
        <p:spPr>
          <a:xfrm>
            <a:off x="4983480" y="3273552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 b="1">
                <a:solidFill>
                  <a:srgbClr val="1E2428"/>
                </a:solidFill>
              </a:rPr>
              <a:t>Production</a:t>
            </a:r>
          </a:p>
        </p:txBody>
      </p:sp>
      <p:sp>
        <p:nvSpPr>
          <p:cNvPr id="23" name="Dot 3"/>
          <p:cNvSpPr/>
          <p:nvPr/>
        </p:nvSpPr>
        <p:spPr>
          <a:xfrm>
            <a:off x="7086600" y="2423160"/>
            <a:ext cx="1234440" cy="640080"/>
          </a:xfrm>
          <a:prstGeom prst="rect">
            <a:avLst/>
          </a:prstGeom>
          <a:solidFill>
            <a:srgbClr val="101820"/>
          </a:solidFill>
          <a:ln>
            <a:noFill/>
          </a:ln>
        </p:spPr>
      </p:sp>
      <p:sp>
        <p:nvSpPr>
          <p:cNvPr id="43" name="Period 3"/>
          <p:cNvSpPr txBox="1"/>
          <p:nvPr/>
        </p:nvSpPr>
        <p:spPr>
          <a:xfrm>
            <a:off x="7196328" y="25877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100" b="1">
                <a:solidFill>
                  <a:srgbClr val="FFFFFF"/>
                </a:solidFill>
              </a:rPr>
              <a:t>J71-J90</a:t>
            </a:r>
          </a:p>
        </p:txBody>
      </p:sp>
      <p:sp>
        <p:nvSpPr>
          <p:cNvPr id="63" name="Label 3"/>
          <p:cNvSpPr txBox="1"/>
          <p:nvPr/>
        </p:nvSpPr>
        <p:spPr>
          <a:xfrm>
            <a:off x="7040880" y="3273552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 b="1">
                <a:solidFill>
                  <a:srgbClr val="1E2428"/>
                </a:solidFill>
              </a:rPr>
              <a:t>Consolidation</a:t>
            </a:r>
          </a:p>
        </p:txBody>
      </p:sp>
      <p:sp>
        <p:nvSpPr>
          <p:cNvPr id="24" name="Dot 4"/>
          <p:cNvSpPr/>
          <p:nvPr/>
        </p:nvSpPr>
        <p:spPr>
          <a:xfrm>
            <a:off x="9144000" y="2423160"/>
            <a:ext cx="1234440" cy="640080"/>
          </a:xfrm>
          <a:prstGeom prst="rect">
            <a:avLst/>
          </a:prstGeom>
          <a:solidFill>
            <a:srgbClr val="101820"/>
          </a:solidFill>
          <a:ln>
            <a:noFill/>
          </a:ln>
        </p:spPr>
      </p:sp>
      <p:sp>
        <p:nvSpPr>
          <p:cNvPr id="44" name="Period 4"/>
          <p:cNvSpPr txBox="1"/>
          <p:nvPr/>
        </p:nvSpPr>
        <p:spPr>
          <a:xfrm>
            <a:off x="9253728" y="2587752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100" b="1">
                <a:solidFill>
                  <a:srgbClr val="FFFFFF"/>
                </a:solidFill>
              </a:rPr>
              <a:t>J91-J100</a:t>
            </a:r>
          </a:p>
        </p:txBody>
      </p:sp>
      <p:sp>
        <p:nvSpPr>
          <p:cNvPr id="64" name="Label 4"/>
          <p:cNvSpPr txBox="1"/>
          <p:nvPr/>
        </p:nvSpPr>
        <p:spPr>
          <a:xfrm>
            <a:off x="9098280" y="3273552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 b="1">
                <a:solidFill>
                  <a:srgbClr val="1E2428"/>
                </a:solidFill>
              </a:rPr>
              <a:t>Restitution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1E2428"/>
                </a:solidFill>
              </a:rPr>
              <a:t>20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200" b="1">
                <a:solidFill>
                  <a:srgbClr val="204B34"/>
                </a:solidFill>
              </a:rPr>
              <a:t>Décision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896112"/>
            <a:ext cx="7863840" cy="8229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900" b="1">
                <a:solidFill>
                  <a:srgbClr val="101820"/>
                </a:solidFill>
              </a:rPr>
              <a:t>Passer de la vision à l'action</a:t>
            </a:r>
          </a:p>
        </p:txBody>
      </p:sp>
      <p:sp>
        <p:nvSpPr>
          <p:cNvPr id="7" name="Bullets"/>
          <p:cNvSpPr txBox="1"/>
          <p:nvPr/>
        </p:nvSpPr>
        <p:spPr>
          <a:xfrm>
            <a:off x="914400" y="1938528"/>
            <a:ext cx="7635240" cy="2697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800">
                <a:solidFill>
                  <a:srgbClr val="1E2428"/>
                </a:solidFill>
              </a:rPr>
              <a:t>- Valider l'orientation atelier.</a:t>
            </a:r>
          </a:p>
          <a:p>
            <a:r>
              <a:rPr lang="fr-FR" sz="1800">
                <a:solidFill>
                  <a:srgbClr val="1E2428"/>
                </a:solidFill>
              </a:rPr>
              <a:t>- Identifier les volontaires.</a:t>
            </a:r>
          </a:p>
          <a:p>
            <a:r>
              <a:rPr lang="fr-FR" sz="1800">
                <a:solidFill>
                  <a:srgbClr val="1E2428"/>
                </a:solidFill>
              </a:rPr>
              <a:t>- Choisir un calendrier simple.</a:t>
            </a:r>
          </a:p>
          <a:p>
            <a:r>
              <a:rPr lang="fr-FR" sz="1800">
                <a:solidFill>
                  <a:srgbClr val="1E2428"/>
                </a:solidFill>
              </a:rPr>
              <a:t>- Lancer la première production.</a:t>
            </a:r>
          </a:p>
          <a:p>
            <a:r>
              <a:rPr lang="fr-FR" sz="1800">
                <a:solidFill>
                  <a:srgbClr val="1E2428"/>
                </a:solidFill>
              </a:rPr>
              <a:t>- Suivre les releases.</a:t>
            </a:r>
          </a:p>
        </p:txBody>
      </p:sp>
      <p:sp>
        <p:nvSpPr>
          <p:cNvPr id="8" name="Note"/>
          <p:cNvSpPr/>
          <p:nvPr/>
        </p:nvSpPr>
        <p:spPr>
          <a:xfrm>
            <a:off x="9281160" y="1828800"/>
            <a:ext cx="2103120" cy="2148840"/>
          </a:xfrm>
          <a:prstGeom prst="rect">
            <a:avLst/>
          </a:prstGeom>
          <a:solidFill>
            <a:srgbClr val="E6F0E8"/>
          </a:solidFill>
          <a:ln>
            <a:solidFill>
              <a:srgbClr val="A9DFBF"/>
            </a:solidFill>
          </a:ln>
        </p:spPr>
      </p:sp>
      <p:sp>
        <p:nvSpPr>
          <p:cNvPr id="9" name="Note Text"/>
          <p:cNvSpPr txBox="1"/>
          <p:nvPr/>
        </p:nvSpPr>
        <p:spPr>
          <a:xfrm>
            <a:off x="9528048" y="2121408"/>
            <a:ext cx="1591056" cy="1371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400" b="1">
                <a:solidFill>
                  <a:srgbClr val="101820"/>
                </a:solidFill>
              </a:rPr>
              <a:t>Action participant</a:t>
            </a:r>
          </a:p>
          <a:p>
            <a:r>
              <a:rPr lang="fr-FR" sz="1400" b="1">
                <a:solidFill>
                  <a:srgbClr val="101820"/>
                </a:solidFill>
              </a:rPr>
              <a:t/>
            </a:r>
          </a:p>
          <a:p>
            <a:r>
              <a:rPr lang="fr-FR" sz="1400" b="1">
                <a:solidFill>
                  <a:srgbClr val="101820"/>
                </a:solidFill>
              </a:rPr>
              <a:t>Noter une application directe.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C86B"/>
          </a:solidFill>
          <a:ln>
            <a:noFill/>
          </a:ln>
        </p:spPr>
      </p:sp>
      <p:sp>
        <p:nvSpPr>
          <p:cNvPr id="3" name="Footer"/>
          <p:cNvSpPr txBox="1"/>
          <p:nvPr/>
        </p:nvSpPr>
        <p:spPr>
          <a:xfrm>
            <a:off x="457200" y="6446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LN-IA Studio Coachs</a:t>
            </a:r>
          </a:p>
        </p:txBody>
      </p:sp>
      <p:sp>
        <p:nvSpPr>
          <p:cNvPr id="4" name="Number"/>
          <p:cNvSpPr txBox="1"/>
          <p:nvPr/>
        </p:nvSpPr>
        <p:spPr>
          <a:xfrm>
            <a:off x="11018520" y="6446520"/>
            <a:ext cx="77724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900">
                <a:solidFill>
                  <a:srgbClr val="F7F7F4"/>
                </a:solidFill>
              </a:rPr>
              <a:t>21 / 21</a:t>
            </a:r>
          </a:p>
        </p:txBody>
      </p:sp>
      <p:sp>
        <p:nvSpPr>
          <p:cNvPr id="5" name="Kicker"/>
          <p:cNvSpPr txBox="1"/>
          <p:nvPr/>
        </p:nvSpPr>
        <p:spPr>
          <a:xfrm>
            <a:off x="685800" y="594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300" b="1">
                <a:solidFill>
                  <a:srgbClr val="F2C86B"/>
                </a:solidFill>
              </a:rPr>
              <a:t>Clôture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85800" y="1115568"/>
            <a:ext cx="7772400" cy="1645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3800" b="1">
                <a:solidFill>
                  <a:srgbClr val="FFFFFF"/>
                </a:solidFill>
              </a:rPr>
              <a:t>LN-IA : orchestrer l'IA pour amplifier l'impact humain</a:t>
            </a:r>
          </a:p>
        </p:txBody>
      </p:sp>
      <p:sp>
        <p:nvSpPr>
          <p:cNvPr id="7" name="Subtitle"/>
          <p:cNvSpPr txBox="1"/>
          <p:nvPr/>
        </p:nvSpPr>
        <p:spPr>
          <a:xfrm>
            <a:off x="731520" y="2999232"/>
            <a:ext cx="7406640" cy="9144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1900">
                <a:solidFill>
                  <a:srgbClr val="F7F7F4"/>
                </a:solidFill>
              </a:rPr>
              <a:t>La prochaine étape : animer, produire, publier, puis améliorer à partir des retours participants.</a:t>
            </a:r>
          </a:p>
        </p:txBody>
      </p:sp>
      <p:sp>
        <p:nvSpPr>
          <p:cNvPr id="8" name="Signal"/>
          <p:cNvSpPr/>
          <p:nvPr/>
        </p:nvSpPr>
        <p:spPr>
          <a:xfrm>
            <a:off x="8869680" y="1115568"/>
            <a:ext cx="2148840" cy="2148840"/>
          </a:xfrm>
          <a:prstGeom prst="rect">
            <a:avLst/>
          </a:prstGeom>
          <a:solidFill>
            <a:srgbClr val="A9DFBF"/>
          </a:solidFill>
          <a:ln>
            <a:noFill/>
          </a:ln>
        </p:spPr>
      </p:sp>
      <p:sp>
        <p:nvSpPr>
          <p:cNvPr id="9" name="Signal Text"/>
          <p:cNvSpPr txBox="1"/>
          <p:nvPr/>
        </p:nvSpPr>
        <p:spPr>
          <a:xfrm>
            <a:off x="9189720" y="1572768"/>
            <a:ext cx="1508760" cy="10058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fr-FR" sz="2000" b="1">
                <a:solidFill>
                  <a:srgbClr val="101820"/>
                </a:solidFill>
              </a:rPr>
              <a:t>Vision</a:t>
            </a:r>
          </a:p>
          <a:p>
            <a:r>
              <a:rPr lang="fr-FR" sz="2000" b="1">
                <a:solidFill>
                  <a:srgbClr val="101820"/>
                </a:solidFill>
              </a:rPr>
              <a:t>Méthode</a:t>
            </a:r>
          </a:p>
          <a:p>
            <a:r>
              <a:rPr lang="fr-FR" sz="2000" b="1">
                <a:solidFill>
                  <a:srgbClr val="101820"/>
                </a:solidFill>
              </a:rPr>
              <a:t>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N-IA">
  <a:themeElements>
    <a:clrScheme name="LN-IA">
      <a:dk1>
        <a:srgbClr val="101820"/>
      </a:dk1>
      <a:lt1>
        <a:srgbClr val="FFFFFF"/>
      </a:lt1>
      <a:dk2>
        <a:srgbClr val="1E2428"/>
      </a:dk2>
      <a:lt2>
        <a:srgbClr val="F7F7F4"/>
      </a:lt2>
      <a:accent1>
        <a:srgbClr val="F2C86B"/>
      </a:accent1>
      <a:accent2>
        <a:srgbClr val="A9DFBF"/>
      </a:accent2>
      <a:accent3>
        <a:srgbClr val="204B34"/>
      </a:accent3>
      <a:accent4>
        <a:srgbClr val="E6F0E8"/>
      </a:accent4>
      <a:accent5>
        <a:srgbClr val="C8C1B5"/>
      </a:accent5>
      <a:accent6>
        <a:srgbClr val="172027"/>
      </a:accent6>
      <a:hlink>
        <a:srgbClr val="204B34"/>
      </a:hlink>
      <a:folHlink>
        <a:srgbClr val="204B34"/>
      </a:folHlink>
    </a:clrScheme>
    <a:fontScheme name="LN-IA">
      <a:majorFont>
        <a:latin typeface="Aptos Display"/>
      </a:majorFont>
      <a:minorFont>
        <a:latin typeface="Aptos"/>
      </a:minorFont>
    </a:fontScheme>
    <a:fmtScheme name="LN-IA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LN-IA Generator</Application>
  <PresentationFormat>Widescreen</PresentationFormat>
  <Slides>21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LN-IA Studio Coachs - Laboratoire adapté</dc:title>
  <dc:creator>LAB-NUMERIQUE-IA</dc:creator>
  <cp:lastModifiedBy>Codex</cp:lastModifiedBy>
</cp:coreProperties>
</file>